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921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253A5A"/>
          </a:solidFill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253A5A"/>
          </a:solidFill>
          <a:ln w="254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411480"/>
            <a:ext cx="13716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411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FLUTTER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868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Міністерство освіти і науки України  ·  ХНУРЕ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7132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Програмна система вивчення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іноземних мов у форматі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онлайн-дуелей у реальному часі: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35"/>
                </a:solidFill>
              </a:rPr>
              <a:t>frontend-частина (Flutter)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02920" y="3977640"/>
            <a:ext cx="8641080" cy="914400"/>
          </a:xfrm>
          <a:prstGeom prst="rect">
            <a:avLst/>
          </a:prstGeom>
          <a:solidFill>
            <a:srgbClr val="0F1C32"/>
          </a:solidFill>
          <a:ln w="12700">
            <a:solidFill>
              <a:srgbClr val="0F1C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0507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Худокормов Ілля Владиславович  ·  ПЗПІ-23-1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343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Керівник: ст.викл. Ірина Побіженко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4114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D23F"/>
                </a:solidFill>
              </a:rPr>
              <a:t>26.06.2026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роботи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10058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8503920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73152" cy="1325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261872"/>
            <a:ext cx="8138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Розробка кросплатформного Flutter-застосунку «LanguageDuel» для вивчення іноземних мов у форматі онлайн-дуелей: реєстрація, пошук суперника, ігровий цикл у реальному часі, перегляд статистики.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274320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7889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ГЕЙМІФІКАЦІЯ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1729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HP-система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353872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Правильна відповідь знімає HP суперника, хибна — знімає HP гравця. Емоційне напруження підсилює запам'ятовування.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2968" y="278892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72968" y="2788920"/>
            <a:ext cx="274320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64408" y="27889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РЕАЛЬНИЙ ЧАС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4408" y="31729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SignalR + WebSocket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64408" y="353872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withAutomaticReconnect() гарантує стійкість. Стан синхронізується без ручних запитів від клієнта.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25896" y="278892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25896" y="2788920"/>
            <a:ext cx="274320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17336" y="27889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КРОСПЛАТФОРМА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17336" y="31729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Flutter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17336" y="353872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Єдина кодова база для Android, iOS та Web. Адаптивна навігація через MediaQuery.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предметної галузі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10058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778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Ідея та функціонал конкурентів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85039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Платформа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23444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Ідея та функціонал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00200"/>
            <a:ext cx="850392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600200"/>
            <a:ext cx="73152" cy="9418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55648"/>
            <a:ext cx="621792" cy="62179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1600200"/>
            <a:ext cx="10058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Memrise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194560" y="1600200"/>
            <a:ext cx="0" cy="941832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331720" y="1673352"/>
            <a:ext cx="64008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Вивчення лексики методом інтервального повторення + іммерсія через відео носіїв мови. Офлайн-режим, адаптивний контент.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  —  Відсутній живий мультиплеєр: усі взаємодії асинхронні.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2587752"/>
            <a:ext cx="8503920" cy="941832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0040" y="2587752"/>
            <a:ext cx="73152" cy="941832"/>
          </a:xfrm>
          <a:prstGeom prst="rect">
            <a:avLst/>
          </a:prstGeom>
          <a:solidFill>
            <a:srgbClr val="E84057"/>
          </a:solidFill>
          <a:ln w="12700">
            <a:solidFill>
              <a:srgbClr val="E8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743200"/>
            <a:ext cx="621792" cy="62179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43000" y="2587752"/>
            <a:ext cx="10058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057"/>
                </a:solidFill>
              </a:rPr>
              <a:t>WordWall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2194560" y="2587752"/>
            <a:ext cx="0" cy="941832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331720" y="2660904"/>
            <a:ext cx="64008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Інтерактивні шаблони ігор (вікторини, сортування, анаграми). Браузер без встановлення. Миттєвий результат після завдання.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  —  Залежить від організатора: немає спонтанних дуелей між незнайомцями.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20040" y="3575304"/>
            <a:ext cx="8503920" cy="941832"/>
          </a:xfrm>
          <a:prstGeom prst="rect">
            <a:avLst/>
          </a:prstGeom>
          <a:solidFill>
            <a:srgbClr val="EDF7F1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20040" y="3575304"/>
            <a:ext cx="73152" cy="9418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57200" y="3575304"/>
            <a:ext cx="16916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LanguageDuel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2194560" y="3575304"/>
            <a:ext cx="0" cy="941832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2331720" y="3648456"/>
            <a:ext cx="64008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+  Автоматичний підбір суперника за рейтингом та мовою. Дуельний режим у реальному часі з HP та таймером. Єдина кодова база Flutter для Android, iOS, Web.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предметної галузі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10058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778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— чому Flutter?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8463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Платформа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Архітектурний підхід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581912"/>
            <a:ext cx="484632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581912"/>
            <a:ext cx="64008" cy="7223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673352"/>
            <a:ext cx="530352" cy="5303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" y="1581912"/>
            <a:ext cx="7772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Memrise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828800" y="1581912"/>
            <a:ext cx="0" cy="722376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920240" y="1627632"/>
            <a:ext cx="32004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</a:rPr>
              <a:t>Нативні iOS/Android + окрема вебверсія. Три кодові бази.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2350008"/>
            <a:ext cx="4846320" cy="722376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0040" y="2350008"/>
            <a:ext cx="64008" cy="722376"/>
          </a:xfrm>
          <a:prstGeom prst="rect">
            <a:avLst/>
          </a:prstGeom>
          <a:solidFill>
            <a:srgbClr val="E84057"/>
          </a:solidFill>
          <a:ln w="12700">
            <a:solidFill>
              <a:srgbClr val="E8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441448"/>
            <a:ext cx="530352" cy="5303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51560" y="2350008"/>
            <a:ext cx="7772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057"/>
                </a:solidFill>
              </a:rPr>
              <a:t>WordWall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828800" y="2350008"/>
            <a:ext cx="0" cy="722376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920240" y="2395728"/>
            <a:ext cx="32004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</a:rPr>
              <a:t>Вебзастосунок. Масштабований мобільний дизайн без повноцінного десктопного компонування.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20040" y="3118104"/>
            <a:ext cx="4846320" cy="722376"/>
          </a:xfrm>
          <a:prstGeom prst="rect">
            <a:avLst/>
          </a:prstGeom>
          <a:solidFill>
            <a:srgbClr val="EDF7F1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20040" y="3118104"/>
            <a:ext cx="64008" cy="7223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57200" y="3118104"/>
            <a:ext cx="1371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LanguageDuel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1828800" y="3118104"/>
            <a:ext cx="0" cy="722376"/>
          </a:xfrm>
          <a:prstGeom prst="line">
            <a:avLst/>
          </a:prstGeom>
          <a:noFill/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1920240" y="3163824"/>
            <a:ext cx="32004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</a:rPr>
              <a:t>Flutter: ОДНА кодова база — Android + iOS + Web. Компіляція в нативний ARM-код, 60 fps.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394960" y="1188720"/>
            <a:ext cx="338328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440680" y="123444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B35"/>
                </a:solidFill>
              </a:rPr>
              <a:t>60</a:t>
            </a:r>
            <a:endParaRPr lang="en-US" sz="4800" dirty="0"/>
          </a:p>
        </p:txBody>
      </p:sp>
      <p:sp>
        <p:nvSpPr>
          <p:cNvPr id="30" name="Text 26"/>
          <p:cNvSpPr/>
          <p:nvPr/>
        </p:nvSpPr>
        <p:spPr>
          <a:xfrm>
            <a:off x="5440680" y="18470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</a:rPr>
              <a:t>fps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66560" y="15361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нативна швидкодія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394960" y="2468880"/>
            <a:ext cx="3383280" cy="1143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5440680" y="251460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3</a:t>
            </a:r>
            <a:endParaRPr lang="en-US" sz="4800" dirty="0"/>
          </a:p>
        </p:txBody>
      </p:sp>
      <p:sp>
        <p:nvSpPr>
          <p:cNvPr id="34" name="Text 30"/>
          <p:cNvSpPr/>
          <p:nvPr/>
        </p:nvSpPr>
        <p:spPr>
          <a:xfrm>
            <a:off x="5440680" y="31272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</a:rPr>
              <a:t>платформи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766560" y="2816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Android · iOS · Web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5394960" y="3749040"/>
            <a:ext cx="338328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5440680" y="390906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B35"/>
                </a:solidFill>
              </a:rPr>
              <a:t>1</a:t>
            </a:r>
            <a:endParaRPr lang="en-US" sz="4800" dirty="0"/>
          </a:p>
        </p:txBody>
      </p:sp>
      <p:sp>
        <p:nvSpPr>
          <p:cNvPr id="38" name="Text 34"/>
          <p:cNvSpPr/>
          <p:nvPr/>
        </p:nvSpPr>
        <p:spPr>
          <a:xfrm>
            <a:off x="5440680" y="440740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</a:rPr>
              <a:t>кодова база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6766560" y="40965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без дублювання логіки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10058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5720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893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Автентифікація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673352"/>
            <a:ext cx="2560320" cy="0"/>
          </a:xfrm>
          <a:prstGeom prst="line">
            <a:avLst/>
          </a:prstGeom>
          <a:noFill/>
          <a:ln w="9525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7373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Email / пароль, підтвердження email, Google OAuth 2.0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12344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72968" y="1234440"/>
            <a:ext cx="45720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72968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75888" y="12893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Пошук дуелі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64408" y="1673352"/>
            <a:ext cx="2560320" cy="0"/>
          </a:xfrm>
          <a:prstGeom prst="line">
            <a:avLst/>
          </a:prstGeom>
          <a:noFill/>
          <a:ln w="9525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64408" y="17373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Підбір суперника за мовою та рейтингом, екран очікування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25896" y="12344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25896" y="1234440"/>
            <a:ext cx="45720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25896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28816" y="12893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Ігровий екран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17336" y="1673352"/>
            <a:ext cx="2560320" cy="0"/>
          </a:xfrm>
          <a:prstGeom prst="line">
            <a:avLst/>
          </a:prstGeom>
          <a:noFill/>
          <a:ln w="9525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17336" y="17373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Питання, 4 варіанти відповідей, HP обох гравців, таймер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0632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063240"/>
            <a:ext cx="45720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0632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31181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Статистика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3502152"/>
            <a:ext cx="2560320" cy="0"/>
          </a:xfrm>
          <a:prstGeom prst="line">
            <a:avLst/>
          </a:prstGeom>
          <a:noFill/>
          <a:ln w="9525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5661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Рейтинг, таблиця лідерів, деталі по кожній мові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72968" y="30632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72968" y="3063240"/>
            <a:ext cx="45720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72968" y="30632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75888" y="31181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Профіль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64408" y="3502152"/>
            <a:ext cx="2560320" cy="0"/>
          </a:xfrm>
          <a:prstGeom prst="line">
            <a:avLst/>
          </a:prstGeom>
          <a:noFill/>
          <a:ln w="9525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64408" y="35661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Аватар (image_picker), ім'я, перегляд ігрової історії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25896" y="306324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25896" y="3063240"/>
            <a:ext cx="45720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25896" y="30632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28816" y="31181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Підтримка / Адмін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17336" y="3502152"/>
            <a:ext cx="2560320" cy="0"/>
          </a:xfrm>
          <a:prstGeom prst="line">
            <a:avLst/>
          </a:prstGeom>
          <a:noFill/>
          <a:ln w="9525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17336" y="35661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Система тікетів, адмін-панель управління користувачами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Архітектура ПЗ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768096"/>
            <a:ext cx="1005840" cy="64008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8"/>
                </a:solidFill>
              </a:rPr>
              <a:t>4 шари з чітким розмежуванням відповідальностей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16152"/>
            <a:ext cx="5349240" cy="81381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16152"/>
            <a:ext cx="82296" cy="8138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307592"/>
            <a:ext cx="1417320" cy="310896"/>
          </a:xfrm>
          <a:prstGeom prst="rect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" y="1307592"/>
            <a:ext cx="1371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UI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6824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35"/>
                </a:solidFill>
              </a:rPr>
              <a:t>screens / widgets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51760" y="1344168"/>
            <a:ext cx="0" cy="557784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88920" y="1307592"/>
            <a:ext cx="281635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</a:rPr>
              <a:t>Лише відображає стан — жодної бізнес-логіки. LoginScreen, HomeScreen, GameScreen, ProfilePage, AdminUsersPage...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157984"/>
            <a:ext cx="5349240" cy="81381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157984"/>
            <a:ext cx="82296" cy="813816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249424"/>
            <a:ext cx="1417320" cy="310896"/>
          </a:xfrm>
          <a:prstGeom prst="rect">
            <a:avLst/>
          </a:prstGeom>
          <a:solidFill>
            <a:srgbClr val="FFD23F">
              <a:alpha val="15000"/>
            </a:srgbClr>
          </a:solidFill>
          <a:ln w="12700">
            <a:solidFill>
              <a:srgbClr val="FFD23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" y="2249424"/>
            <a:ext cx="1371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6243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23F"/>
                </a:solidFill>
              </a:rPr>
              <a:t>AuthProvider  /  GameService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51760" y="2286000"/>
            <a:ext cx="0" cy="557784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88920" y="2249424"/>
            <a:ext cx="281635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</a:rPr>
              <a:t>ChangeNotifier-провайдери. GameService: повний ігровий цикл — idle, searching, inGame, finished.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099816"/>
            <a:ext cx="5349240" cy="81381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099816"/>
            <a:ext cx="82296" cy="813816"/>
          </a:xfrm>
          <a:prstGeom prst="rect">
            <a:avLst/>
          </a:prstGeom>
          <a:solidFill>
            <a:srgbClr val="E84057"/>
          </a:solidFill>
          <a:ln w="12700">
            <a:solidFill>
              <a:srgbClr val="E8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3191256"/>
            <a:ext cx="1417320" cy="310896"/>
          </a:xfrm>
          <a:prstGeom prst="rect">
            <a:avLst/>
          </a:prstGeom>
          <a:solidFill>
            <a:srgbClr val="E84057">
              <a:alpha val="15000"/>
            </a:srgbClr>
          </a:solidFill>
          <a:ln w="12700">
            <a:solidFill>
              <a:srgbClr val="E840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" y="3191256"/>
            <a:ext cx="1371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 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5661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4057"/>
                </a:solidFill>
              </a:rPr>
              <a:t>ApiService  /  HubConnection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51760" y="3227832"/>
            <a:ext cx="0" cy="557784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88920" y="3191256"/>
            <a:ext cx="281635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</a:rPr>
              <a:t>REST через пакет http + WebSocket SignalR через signalr_netcore. HubConnection ізольований всередині GameService.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041648"/>
            <a:ext cx="5349240" cy="81381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4041648"/>
            <a:ext cx="82296" cy="8138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" y="4133088"/>
            <a:ext cx="1417320" cy="310896"/>
          </a:xfrm>
          <a:prstGeom prst="rect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6072" y="4133088"/>
            <a:ext cx="1371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Layer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5079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</a:rPr>
              <a:t>GameStateDto  /  UserDto  /  LanguageDto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51760" y="4169664"/>
            <a:ext cx="0" cy="557784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88920" y="4133088"/>
            <a:ext cx="281635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</a:rPr>
              <a:t>Dart-класи з fromJson-конструкторами. Відображають структури DTO серверного API.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06440" y="1143000"/>
            <a:ext cx="3017520" cy="379476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33872" y="1170432"/>
            <a:ext cx="2962656" cy="37307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 ПЗ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10058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778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UML-діаграми та стани GameService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141732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234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USE CASE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36776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Актори Користувач та Адміністратор. Реєстрація, дуель, рейтинг, тікети, адмін-панель.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41448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441448"/>
            <a:ext cx="141732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4414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SEQUENCE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43784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Пошук дуелі: StartSearchGameAsync — ReceiveGameInvitation — AddToGameAsync через SignalR-хаб.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48456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648456"/>
            <a:ext cx="141732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36484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COMPONENT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50792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screens залежать від services через Provider; services залежать від models та зовнішніх API.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</a:rPr>
              <a:t>State Machine — GameService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1508760"/>
            <a:ext cx="3931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1572768"/>
            <a:ext cx="3566160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 ПЗ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10058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778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UML-діаграми: прецеденти, послідовність, компоненти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4160520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170432"/>
            <a:ext cx="4133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USE CASE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26464"/>
            <a:ext cx="416052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1463040"/>
            <a:ext cx="4032504" cy="34015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63440" y="1170432"/>
            <a:ext cx="41605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90872" y="1170432"/>
            <a:ext cx="4133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SEQUENCE — ПОШУК ДУЕЛІ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1426464"/>
            <a:ext cx="416052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27448" y="1463040"/>
            <a:ext cx="4032504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 ПЗ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10058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778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Діаграма компонентів застосунку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170432"/>
            <a:ext cx="8476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COMPONENT DIAGRAM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850392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517904"/>
            <a:ext cx="83210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 ПЗ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10058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778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Навігаційна структура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8"/>
                </a:solidFill>
              </a:rPr>
              <a:t>Навігація без зовнішніх пакетів — кінцевий автомат _AppNavigator. Адаптивна: BottomNavigationBar (&lt; 700px) або NavigationRail (широкий екран). GameScreen — overlay поверх усього контенту.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5669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1801368"/>
            <a:ext cx="5541264" cy="29992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72200" y="1755648"/>
            <a:ext cx="2651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72200" y="1755648"/>
            <a:ext cx="64008" cy="1389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91072" y="1828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&lt; 700px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91072" y="21214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BottomNavigationBar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36208" y="2441448"/>
            <a:ext cx="2514600" cy="0"/>
          </a:xfrm>
          <a:prstGeom prst="line">
            <a:avLst/>
          </a:prstGeom>
          <a:noFill/>
          <a:ln w="9525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91072" y="25054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&gt;= 700px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91072" y="27980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NavigationRail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329184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172200" y="3291840"/>
            <a:ext cx="64008" cy="15727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91072" y="333756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</a:rPr>
              <a:t>MediaQuery визначає тип навігації динамічно при кожній перебудові дерева — без дублювання коду.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057"/>
          </a:solidFill>
          <a:ln w="12700">
            <a:solidFill>
              <a:srgbClr val="E8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Засоби розробки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768096"/>
            <a:ext cx="914400" cy="64008"/>
          </a:xfrm>
          <a:prstGeom prst="rect">
            <a:avLst/>
          </a:prstGeom>
          <a:solidFill>
            <a:srgbClr val="E84057"/>
          </a:solidFill>
          <a:ln w="12700">
            <a:solidFill>
              <a:srgbClr val="E8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7432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82296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188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35"/>
                </a:solidFill>
              </a:rPr>
              <a:t>МОВА / ФРЕЙМВОРК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15361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Flutter  /  Dart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72968" y="1097280"/>
            <a:ext cx="27432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1097280"/>
            <a:ext cx="82296" cy="1188720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188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D23F"/>
                </a:solidFill>
              </a:rPr>
              <a:t>УПРАВЛІННЯ СТАНОМ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15361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Provider (ChangeNotifier)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25896" y="1097280"/>
            <a:ext cx="27432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25896" y="1097280"/>
            <a:ext cx="82296" cy="1188720"/>
          </a:xfrm>
          <a:prstGeom prst="rect">
            <a:avLst/>
          </a:prstGeom>
          <a:solidFill>
            <a:srgbClr val="E84057"/>
          </a:solidFill>
          <a:ln w="12700">
            <a:solidFill>
              <a:srgbClr val="E8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90488" y="1188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4057"/>
                </a:solidFill>
              </a:rPr>
              <a:t>РЕАЛЬНИЙ ЧАС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90488" y="15361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SignalR / signalr_netcore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423160"/>
            <a:ext cx="27432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423160"/>
            <a:ext cx="82296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" y="2514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AE60"/>
                </a:solidFill>
              </a:rPr>
              <a:t>HTTP / REST API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" y="28620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Пакет http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172968" y="2423160"/>
            <a:ext cx="27432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72968" y="2423160"/>
            <a:ext cx="82296" cy="11887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37560" y="2514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498DB"/>
                </a:solidFill>
              </a:rPr>
              <a:t>АВТЕНТИФІКАЦІЯ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28620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Google OAuth 2.0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25896" y="2423160"/>
            <a:ext cx="27432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25896" y="2423160"/>
            <a:ext cx="82296" cy="1188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90488" y="2514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B59B6"/>
                </a:solidFill>
              </a:rPr>
              <a:t>ЗБЕРЕЖЕННЯ СЕСІЇ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90488" y="28620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SharedPreferences + JWT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" y="3749040"/>
            <a:ext cx="27432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3749040"/>
            <a:ext cx="82296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" y="3840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67E22"/>
                </a:solidFill>
              </a:rPr>
              <a:t>МЕДІА / АВАТАР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" y="418795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image_picker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72968" y="3749040"/>
            <a:ext cx="27432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72968" y="3749040"/>
            <a:ext cx="82296" cy="1188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37560" y="3840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BC9C"/>
                </a:solidFill>
              </a:rPr>
              <a:t>АНІМАЦІЇ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37560" y="418795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flutter_animate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25896" y="3749040"/>
            <a:ext cx="2743200" cy="1188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25896" y="3749040"/>
            <a:ext cx="82296" cy="1188720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90488" y="3840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896A8"/>
                </a:solidFill>
              </a:rPr>
              <a:t>IDE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90488" y="418795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Visual Studio Code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реалізації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10058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778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GameService — WebSocket підключення до SignalR-хабу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754880" cy="3611880"/>
          </a:xfrm>
          <a:prstGeom prst="rect">
            <a:avLst/>
          </a:prstGeom>
          <a:solidFill>
            <a:srgbClr val="0F1C32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1508760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234440"/>
            <a:ext cx="148132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game_service.dart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4663440" cy="3218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Future&lt;void&gt; connect() async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_hub = HubConnectionBuilder()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.withUrl(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'$baseUrl/gameHub',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options: HttpConnectionOptions(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accessTokenFactory: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() async =&gt; token,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.withAutomaticReconnect()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_hub!.on('GameStateChanged',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(args) =&gt; _onStateChanged(args));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_hub!.on('GameFinished',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(args) =&gt; _onFinished(args));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_hub!.on('ReceiveGameInvitation',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(args) =&gt; _onInvitation(args));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_hub!.start();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57800" y="1234440"/>
            <a:ext cx="3566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57800" y="1234440"/>
            <a:ext cx="35661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57800" y="1325880"/>
            <a:ext cx="1417320" cy="274320"/>
          </a:xfrm>
          <a:prstGeom prst="rect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85232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35"/>
                </a:solidFill>
              </a:rPr>
              <a:t>AUTO-RECONNECT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76672" y="166420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</a:rPr>
              <a:t>withAutomaticReconnect() — WebSocket відновлюється при розривах без видимих наслідків для гравця.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57800" y="2441448"/>
            <a:ext cx="3566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57800" y="2441448"/>
            <a:ext cx="3566160" cy="64008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57800" y="2532888"/>
            <a:ext cx="1417320" cy="274320"/>
          </a:xfrm>
          <a:prstGeom prst="rect">
            <a:avLst/>
          </a:prstGeom>
          <a:solidFill>
            <a:srgbClr val="FFD23F">
              <a:alpha val="12000"/>
            </a:srgbClr>
          </a:solidFill>
          <a:ln w="12700">
            <a:solidFill>
              <a:srgbClr val="FFD23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85232" y="2532888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D23F"/>
                </a:solidFill>
              </a:rPr>
              <a:t>JWT FACTORY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76672" y="287121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</a:rPr>
              <a:t>accessTokenFactory передає токен при кожному (пере)підключенні — хаб авторизує клієнта.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57800" y="3648456"/>
            <a:ext cx="3566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57800" y="3648456"/>
            <a:ext cx="356616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57800" y="3739896"/>
            <a:ext cx="1417320" cy="27432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85232" y="3739896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AE60"/>
                </a:solidFill>
              </a:rPr>
              <a:t>EVENTS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76672" y="407822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</a:rPr>
              <a:t>Обробники викликають notifyListeners() — UI оновлюється в одному фреймі автоматично.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реалізації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10058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778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 навігація та Google OAuth 2.0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754880" cy="3611880"/>
          </a:xfrm>
          <a:prstGeom prst="rect">
            <a:avLst/>
          </a:prstGeom>
          <a:solidFill>
            <a:srgbClr val="0F1C32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1508760" cy="29260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234440"/>
            <a:ext cx="148132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home_screen.dart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4663440" cy="3218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Adaptive navigation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 _buildNav(BuildContext ctx)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w = MediaQuery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.of(ctx).size.width;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(w &lt; 700)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BottomNavigationBar(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currentIndex: _idx,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onTap: (i) =&gt;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setState(() =&gt; _idx = i),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items: _navItems,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NavigationRail(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selectedIndex: _idx,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onDestinationSelected: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(i) =&gt; setState(() =&gt; _idx = i),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destinations: _railDests,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Google OAuth (Web)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googleSignIn.authenticationEvents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.listen((event) async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cred = await event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.userAttributes;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onWebSignInComplete(cred);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57800" y="1234440"/>
            <a:ext cx="3566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57800" y="1234440"/>
            <a:ext cx="3566160" cy="6400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57800" y="1325880"/>
            <a:ext cx="1554480" cy="274320"/>
          </a:xfrm>
          <a:prstGeom prst="rect">
            <a:avLst/>
          </a:prstGeom>
          <a:solidFill>
            <a:srgbClr val="3498DB">
              <a:alpha val="12000"/>
            </a:srgbClr>
          </a:solidFill>
          <a:ln w="12700">
            <a:solidFill>
              <a:srgbClr val="3498D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85232" y="1325880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498DB"/>
                </a:solidFill>
              </a:rPr>
              <a:t>MEDIAQUERY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76672" y="166420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</a:rPr>
              <a:t>Єдина перевірка ширини — BottomNav (mobile) або NavigationRail (desktop). Немає дублювання коду.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57800" y="2441448"/>
            <a:ext cx="3566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57800" y="2441448"/>
            <a:ext cx="3566160" cy="64008"/>
          </a:xfrm>
          <a:prstGeom prst="rect">
            <a:avLst/>
          </a:prstGeom>
          <a:solidFill>
            <a:srgbClr val="E84057"/>
          </a:solidFill>
          <a:ln w="12700">
            <a:solidFill>
              <a:srgbClr val="E8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57800" y="2532888"/>
            <a:ext cx="1554480" cy="274320"/>
          </a:xfrm>
          <a:prstGeom prst="rect">
            <a:avLst/>
          </a:prstGeom>
          <a:solidFill>
            <a:srgbClr val="E84057">
              <a:alpha val="12000"/>
            </a:srgbClr>
          </a:solidFill>
          <a:ln w="12700">
            <a:solidFill>
              <a:srgbClr val="E8405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85232" y="2532888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4057"/>
                </a:solidFill>
              </a:rPr>
              <a:t>GOOGLE OAUTH WEB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76672" y="287121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</a:rPr>
              <a:t>authenticationEvents потік — коректна поведінка в браузері без popup-блокерів.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57800" y="3648456"/>
            <a:ext cx="3566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57800" y="3648456"/>
            <a:ext cx="356616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57800" y="3739896"/>
            <a:ext cx="1554480" cy="27432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85232" y="3739896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AE60"/>
                </a:solidFill>
              </a:rPr>
              <a:t>SESSION JWT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76672" y="407822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</a:rPr>
              <a:t>SharedPreferences зберігає токен між запусками — користувач не перевходить після закриття.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9536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Аналіз результатів та висновки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768096"/>
            <a:ext cx="1188720" cy="64008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1480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14800" cy="822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1554480" cy="274320"/>
          </a:xfrm>
          <a:prstGeom prst="rect">
            <a:avLst/>
          </a:prstGeom>
          <a:solidFill>
            <a:srgbClr val="27AE60">
              <a:alpha val="18000"/>
            </a:srgbClr>
          </a:solidFill>
          <a:ln w="12700">
            <a:solidFill>
              <a:srgbClr val="27AE6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11704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AE60"/>
                </a:solidFill>
              </a:rPr>
              <a:t>ІГРОВИЙ ЦИКЛ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Реалізовано повністю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Реєстрація — пошук суперника — дуель в реальному часі — статистика. SignalR синхронізує HP, питання та таймер без ручних запитів.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36008" y="1005840"/>
            <a:ext cx="411480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36008" y="1005840"/>
            <a:ext cx="4114800" cy="82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73168" y="1170432"/>
            <a:ext cx="1554480" cy="274320"/>
          </a:xfrm>
          <a:prstGeom prst="rect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11704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6B35"/>
                </a:solidFill>
              </a:rPr>
              <a:t>КРОСПЛАТФОРМА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Android + iOS + Web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73168" y="18745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Єдина кодова база Flutter. Адаптивна навігація через MediaQuery без дублювання логіки.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411480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4114800" cy="8229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044952"/>
            <a:ext cx="1554480" cy="274320"/>
          </a:xfrm>
          <a:prstGeom prst="rect">
            <a:avLst/>
          </a:prstGeom>
          <a:solidFill>
            <a:srgbClr val="3498DB">
              <a:alpha val="18000"/>
            </a:srgbClr>
          </a:solidFill>
          <a:ln w="12700">
            <a:solidFill>
              <a:srgbClr val="3498D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" y="30449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498DB"/>
                </a:solidFill>
              </a:rPr>
              <a:t>АВТЕНТИФІКАЦІЯ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сценарії входу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Email/пароль, підтвердження email, Google OAuth 2.0. JWT в SharedPreferences — сесія між запусками.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36008" y="2880360"/>
            <a:ext cx="4114800" cy="173736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36008" y="2880360"/>
            <a:ext cx="4114800" cy="82296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73168" y="3044952"/>
            <a:ext cx="1554480" cy="274320"/>
          </a:xfrm>
          <a:prstGeom prst="rect">
            <a:avLst/>
          </a:prstGeom>
          <a:solidFill>
            <a:srgbClr val="FFD23F">
              <a:alpha val="18000"/>
            </a:srgbClr>
          </a:solidFill>
          <a:ln w="12700">
            <a:solidFill>
              <a:srgbClr val="FFD23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30449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D23F"/>
                </a:solidFill>
              </a:rPr>
              <a:t>АРХІТЕКТУРА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шари Provider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73168" y="3749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UI, State, Service, Models. GameService — єдине джерело ігрового стану, спрощує тестування та налагодження.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663440"/>
            <a:ext cx="8092440" cy="384048"/>
          </a:xfrm>
          <a:prstGeom prst="rect">
            <a:avLst/>
          </a:prstGeom>
          <a:solidFill>
            <a:srgbClr val="0F1C32"/>
          </a:solidFill>
          <a:ln w="12700">
            <a:solidFill>
              <a:srgbClr val="0F1C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8"/>
                </a:solidFill>
              </a:rPr>
              <a:t>Майбутня модернізація:   офлайн-кешування  /  push-сповіщення  /  розширена обробка мережевих помилок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1142</Words>
  <Application>Microsoft Office PowerPoint</Application>
  <PresentationFormat>On-screen Show (16:9)</PresentationFormat>
  <Paragraphs>235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LanguageDuel Frontend</dc:title>
  <dc:subject/>
  <dc:creator>Худокормов Ілля</dc:creator>
  <cp:lastModifiedBy>J0nathan550</cp:lastModifiedBy>
  <cp:revision>5</cp:revision>
  <dcterms:created xsi:type="dcterms:W3CDTF">2026-05-13T10:23:28Z</dcterms:created>
  <dcterms:modified xsi:type="dcterms:W3CDTF">2026-05-13T10:43:54Z</dcterms:modified>
</cp:coreProperties>
</file>